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9" r:id="rId4"/>
    <p:sldId id="262" r:id="rId5"/>
    <p:sldId id="265" r:id="rId6"/>
    <p:sldId id="264" r:id="rId7"/>
    <p:sldId id="263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32F2C7F-05CB-44DE-89D6-BD9369BB1DBF}">
          <p14:sldIdLst>
            <p14:sldId id="256"/>
            <p14:sldId id="257"/>
            <p14:sldId id="259"/>
            <p14:sldId id="262"/>
            <p14:sldId id="265"/>
            <p14:sldId id="264"/>
            <p14:sldId id="263"/>
            <p14:sldId id="266"/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D4BC6-3713-48E6-9655-CDB61B43B87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32F9C9F3-C81A-4230-85CD-028B7EEB8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970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D4BC6-3713-48E6-9655-CDB61B43B87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9C9F3-C81A-4230-85CD-028B7EEB8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647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BD4BC6-3713-48E6-9655-CDB61B43B87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32F9C9F3-C81A-4230-85CD-028B7EEB8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19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D4BC6-3713-48E6-9655-CDB61B43B87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9C9F3-C81A-4230-85CD-028B7EEB8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421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D4BC6-3713-48E6-9655-CDB61B43B87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9C9F3-C81A-4230-85CD-028B7EEB8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62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D4BC6-3713-48E6-9655-CDB61B43B87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9C9F3-C81A-4230-85CD-028B7EEB8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104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D4BC6-3713-48E6-9655-CDB61B43B87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9C9F3-C81A-4230-85CD-028B7EEB8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649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D4BC6-3713-48E6-9655-CDB61B43B87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9C9F3-C81A-4230-85CD-028B7EEB8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898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D4BC6-3713-48E6-9655-CDB61B43B879}" type="datetimeFigureOut">
              <a:rPr lang="en-US" smtClean="0"/>
              <a:t>6/30/2026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9C9F3-C81A-4230-85CD-028B7EEB8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495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D4BC6-3713-48E6-9655-CDB61B43B87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9C9F3-C81A-4230-85CD-028B7EEB8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295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D4BC6-3713-48E6-9655-CDB61B43B87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9C9F3-C81A-4230-85CD-028B7EEB8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158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C6BD4BC6-3713-48E6-9655-CDB61B43B87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32F9C9F3-C81A-4230-85CD-028B7EEB8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400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CDFA7-32D8-6B0D-84F3-2DC88F0E3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4010" y="1507787"/>
            <a:ext cx="10125521" cy="273650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Retail Sales Analysis </a:t>
            </a:r>
            <a:br>
              <a:rPr lang="en-US" b="1" dirty="0"/>
            </a:br>
            <a:r>
              <a:rPr lang="en-US" b="1" dirty="0"/>
              <a:t>Dashboard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342C23-B51D-08E1-D6C0-8835DFAB4D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139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1C0CD-A726-C0CF-2561-449A7EE0D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0E6B1-7582-74FE-888C-86983F111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Retail businesses generate large amounts of sales data, but it is difficult to understand overall performance, customer behavior, and product profitability without proper analysis.</a:t>
            </a:r>
          </a:p>
          <a:p>
            <a:pPr marL="0" indent="0">
              <a:buNone/>
            </a:pPr>
            <a:r>
              <a:rPr lang="en-US" dirty="0"/>
              <a:t>The main challenges are:</a:t>
            </a:r>
          </a:p>
          <a:p>
            <a:r>
              <a:rPr lang="en-US" dirty="0"/>
              <a:t>Identifying which categories and products generate the highest revenue and profit. </a:t>
            </a:r>
          </a:p>
          <a:p>
            <a:r>
              <a:rPr lang="en-US" dirty="0"/>
              <a:t>Understanding customer segments and their purchasing behavior. </a:t>
            </a:r>
          </a:p>
          <a:p>
            <a:r>
              <a:rPr lang="en-US" dirty="0"/>
              <a:t>Analyzing sales trends over time to support decision-making. </a:t>
            </a:r>
          </a:p>
          <a:p>
            <a:r>
              <a:rPr lang="en-US" dirty="0"/>
              <a:t>Evaluating the impact of discounts on revenue and profitability. </a:t>
            </a:r>
          </a:p>
          <a:p>
            <a:r>
              <a:rPr lang="en-US" dirty="0"/>
              <a:t>Monitoring return rates and improving customer satisfaction. </a:t>
            </a:r>
          </a:p>
          <a:p>
            <a:r>
              <a:rPr lang="en-US" dirty="0"/>
              <a:t>This project aims to build an interactive Power BI dashboard to transform raw sales data into actionable insights and help business teams make data-driven decisions.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835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16DBFAD4-B5FC-442B-A283-381B01B19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B649DC7-8769-4383-A6F2-8F366BA7A1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67FD53-2686-4E0E-BA49-976F78F9AA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84FCC8-95F3-4A90-20C3-7D364DC41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dirty="0"/>
              <a:t>Data model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73A6EBCA-8401-A0DC-3292-3BE8836E725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6"/>
          <a:srcRect l="2941" r="10773"/>
          <a:stretch>
            <a:fillRect/>
          </a:stretch>
        </p:blipFill>
        <p:spPr>
          <a:xfrm>
            <a:off x="1063752" y="2237351"/>
            <a:ext cx="6412222" cy="4420338"/>
          </a:xfrm>
          <a:prstGeom prst="rect">
            <a:avLst/>
          </a:prstGeom>
          <a:solidFill>
            <a:srgbClr val="696464">
              <a:lumMod val="20000"/>
              <a:lumOff val="80000"/>
            </a:srgbClr>
          </a:solidFill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ED0D5D-B259-A52D-CE46-FDB76BD698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46797" y="2292722"/>
            <a:ext cx="3481452" cy="44203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Built using Star Schema architecture.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Fact table stores sales transactions.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Dimension tables provide descriptive attributes for analysis.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One-to-many relationships ensure accurate filtering and reporting</a:t>
            </a:r>
          </a:p>
          <a:p>
            <a:pPr indent="-182880">
              <a:lnSpc>
                <a:spcPct val="90000"/>
              </a:lnSpc>
              <a:buFont typeface="Wingdings" pitchFamily="2" charset="2"/>
              <a:buChar char="§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007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44AC4-F184-964F-5AD0-5C41A4918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1"/>
            <a:ext cx="10058400" cy="4559641"/>
          </a:xfrm>
        </p:spPr>
        <p:txBody>
          <a:bodyPr>
            <a:normAutofit/>
          </a:bodyPr>
          <a:lstStyle/>
          <a:p>
            <a:pPr algn="ctr"/>
            <a:r>
              <a:rPr lang="en-US" sz="11500" dirty="0"/>
              <a:t>dashboard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340383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147578-D667-0A64-1071-64184929B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597" y="140677"/>
            <a:ext cx="11525458" cy="6571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761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C018C8-BA41-2078-A8B9-60E26C4B9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644" y="130629"/>
            <a:ext cx="11314444" cy="635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64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2DFCE9-39F1-B9F0-FC92-F38859058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934" y="200967"/>
            <a:ext cx="11485265" cy="653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653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BF03B-232C-779C-C1DE-EFB7E4C16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Insights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6028E-0EB3-A090-F4C8-BE6EDE04C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Total Revenue reached 6M</a:t>
            </a:r>
            <a:r>
              <a:rPr lang="en-US" dirty="0"/>
              <a:t> with </a:t>
            </a:r>
            <a:r>
              <a:rPr lang="en-US" b="1" dirty="0"/>
              <a:t>35K Orders</a:t>
            </a:r>
            <a:r>
              <a:rPr lang="en-US" dirty="0"/>
              <a:t>, showing strong sales performance. </a:t>
            </a:r>
          </a:p>
          <a:p>
            <a:r>
              <a:rPr lang="en-US" b="1" dirty="0"/>
              <a:t>Electronics</a:t>
            </a:r>
            <a:r>
              <a:rPr lang="en-US" dirty="0"/>
              <a:t> is the top-performing category in both revenue and profit.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r>
              <a:rPr lang="en-US" b="1" dirty="0"/>
              <a:t>Adult customers</a:t>
            </a:r>
            <a:r>
              <a:rPr lang="en-US" dirty="0"/>
              <a:t> contribute the highest revenue compared to other age groups. </a:t>
            </a:r>
          </a:p>
          <a:p>
            <a:r>
              <a:rPr lang="en-US" dirty="0"/>
              <a:t>Customer revenue is almost balanced between </a:t>
            </a:r>
            <a:r>
              <a:rPr lang="en-US" b="1" dirty="0"/>
              <a:t>Male and Female segments</a:t>
            </a:r>
            <a:r>
              <a:rPr lang="en-US" dirty="0"/>
              <a:t>. </a:t>
            </a:r>
          </a:p>
          <a:p>
            <a:r>
              <a:rPr lang="en-US" dirty="0"/>
              <a:t>The overall </a:t>
            </a:r>
            <a:r>
              <a:rPr lang="en-US" b="1" dirty="0"/>
              <a:t>Return Rate is low (5.52%)</a:t>
            </a:r>
            <a:r>
              <a:rPr lang="en-US" dirty="0"/>
              <a:t>, indicating good order completion.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 few top products generate a significant share of revenue, making them important for business focus. </a:t>
            </a:r>
          </a:p>
          <a:p>
            <a:r>
              <a:rPr lang="en-US" dirty="0"/>
              <a:t>High-profit categories should be prioritized to improve overall profitability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903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6877E-C5CC-85F6-3B11-7FD09D7E6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Recommendations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36624-DC8E-0D26-F56D-610DB60D4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Focus on top-selling categories and products. </a:t>
            </a:r>
          </a:p>
          <a:p>
            <a:r>
              <a:rPr lang="en-US" sz="2400" dirty="0"/>
              <a:t>Optimize discounts to increase sales while maintaining profit margins. 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Target customer segments with lower contribution to improve growth. </a:t>
            </a:r>
          </a:p>
          <a:p>
            <a:r>
              <a:rPr lang="en-US" sz="2400" dirty="0"/>
              <a:t>Maintain inventory availability for high-performing products.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1532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35</TotalTime>
  <Words>270</Words>
  <Application>Microsoft Office PowerPoint</Application>
  <PresentationFormat>Widescreen</PresentationFormat>
  <Paragraphs>32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Calibri</vt:lpstr>
      <vt:lpstr>Rockwell</vt:lpstr>
      <vt:lpstr>Rockwell Condensed</vt:lpstr>
      <vt:lpstr>Rockwell Extra Bold</vt:lpstr>
      <vt:lpstr>Wingdings</vt:lpstr>
      <vt:lpstr>Wood Type</vt:lpstr>
      <vt:lpstr>Retail Sales Analysis  Dashboard </vt:lpstr>
      <vt:lpstr>Business problem</vt:lpstr>
      <vt:lpstr>Data model</vt:lpstr>
      <vt:lpstr>dashboard</vt:lpstr>
      <vt:lpstr>PowerPoint Presentation</vt:lpstr>
      <vt:lpstr>PowerPoint Presentation</vt:lpstr>
      <vt:lpstr>PowerPoint Presentation</vt:lpstr>
      <vt:lpstr>Key Insights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أدهم عطية عبدالستار</dc:creator>
  <cp:lastModifiedBy>أدهم عطية عبدالستار</cp:lastModifiedBy>
  <cp:revision>1</cp:revision>
  <dcterms:created xsi:type="dcterms:W3CDTF">2026-06-30T11:30:01Z</dcterms:created>
  <dcterms:modified xsi:type="dcterms:W3CDTF">2026-06-30T12:05:40Z</dcterms:modified>
</cp:coreProperties>
</file>